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Inconsolata" pitchFamily="1" charset="0"/>
      <p:regular r:id="rId14"/>
    </p:embeddedFont>
    <p:embeddedFont>
      <p:font typeface="Montserrat Black" panose="00000A00000000000000" pitchFamily="2" charset="0"/>
      <p:regular r:id="rId15"/>
    </p:embeddedFont>
    <p:embeddedFont>
      <p:font typeface="Montserrat Light" panose="000004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3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7895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Quantum-Inspired Secure Authentication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1632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Biometrics Meets Post-Quantum Cryptography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1298"/>
            <a:ext cx="365737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Executive Overview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141661"/>
            <a:ext cx="5213449" cy="3475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343695"/>
            <a:ext cx="2655094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Traditional authentication systems face existential threats from advancing computing technologies. Password-based systems and conventional biometrics remain vulnerable to spoofing, replay attacks, and future quantum-based cryptographic exploits.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20767" y="2937346"/>
            <a:ext cx="2655094" cy="147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research proposes a </a:t>
            </a:r>
            <a:r>
              <a:rPr lang="en-US" sz="10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next-generation authentication framework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integrating behavioral biometrics, quantum-inspired probabilistic identity modeling, and post-quantum cryptographic security for future-resistant protection.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E089D-BF60-8D8D-84A8-83D9A4DB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856" y="4786262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94"/>
            <a:ext cx="35496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4004965" cy="1847031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2640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5161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39392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44055"/>
            <a:ext cx="2600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Multi-Layer Authentication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0566"/>
            <a:ext cx="3711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integrated system combining behavioral biometrics with quantum-inspired encoding and post-quantum cryptography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130498"/>
            <a:ext cx="4005039" cy="1847031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89363" y="127702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5161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39392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844055"/>
            <a:ext cx="27245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Quantum-Resistant Security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150566"/>
            <a:ext cx="37119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 lattice-based cryptography and hash-based signatures securing identity storage and transmission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119289"/>
            <a:ext cx="4004965" cy="1620217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2640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5161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832845"/>
            <a:ext cx="261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Continuous Authentication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13935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Enable real-time monitoring with AI-based anomaly detection instead of one-time login verification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119289"/>
            <a:ext cx="4005039" cy="1620217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89363" y="326581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5161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832845"/>
            <a:ext cx="20405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Research Publication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139357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functional MVP and prepare results suitable for IEEE-format academic publication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E977EE-FB71-8B53-2598-CAB3234CE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535" y="4767857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8C6EA-642F-8625-A66E-5565F2A0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8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047"/>
            <a:ext cx="53217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Critical Security Challenges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55552"/>
            <a:ext cx="4004965" cy="1308571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7069" y="1555552"/>
            <a:ext cx="76200" cy="1308571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716360"/>
            <a:ext cx="30605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Static Credential Vulnerabilities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022872"/>
            <a:ext cx="36261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Passwords, tokens, and OTPs are increasingly compromised through phishing, keylogging, and credential stuffing attacks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555552"/>
            <a:ext cx="4005039" cy="1308571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23792" y="1555552"/>
            <a:ext cx="76200" cy="1308571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716360"/>
            <a:ext cx="18658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Biometric Spoofing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0801" y="2022872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Traditional biometric systems (face recognition, fingerprint scanning) can be deceived using masks, photos, or synthetic replicas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05882"/>
            <a:ext cx="4004965" cy="1308571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069" y="3005882"/>
            <a:ext cx="76200" cy="1308571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166690"/>
            <a:ext cx="21801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Post-Quantum Threats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3473202"/>
            <a:ext cx="36261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Classical cryptographic algorithms face breaking by future quantum computers using Shor's algorithm and related techniques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5039" cy="1308571"/>
          </a:xfrm>
          <a:prstGeom prst="roundRect">
            <a:avLst>
              <a:gd name="adj" fmla="val 6988"/>
            </a:avLst>
          </a:prstGeom>
          <a:solidFill>
            <a:srgbClr val="F8ECE4"/>
          </a:solidFill>
          <a:ln w="1905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3792" y="3005882"/>
            <a:ext cx="76200" cy="1308571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166690"/>
            <a:ext cx="20124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Session Security Gap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0801" y="3473202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Lack of continuous authentication after initial login creates window for session hijacking and privilege escalation attacks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0FDA86-3B31-9954-80DD-5DF4E168D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98" y="4620964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46695"/>
            <a:ext cx="4893320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Hybrid Quantum-Behavioral Framework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57265" y="1402259"/>
            <a:ext cx="117351" cy="643607"/>
          </a:xfrm>
          <a:prstGeom prst="roundRect">
            <a:avLst>
              <a:gd name="adj" fmla="val 487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839840" y="1325240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7872" y="1413346"/>
            <a:ext cx="176064" cy="176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9227" y="1343546"/>
            <a:ext cx="235714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Biometric Capture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289227" y="1585243"/>
            <a:ext cx="444393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Keystroke dynamics, mouse movement patterns, and touch interaction timing create unique user signatures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133329" y="2319189"/>
            <a:ext cx="117351" cy="643607"/>
          </a:xfrm>
          <a:prstGeom prst="roundRect">
            <a:avLst>
              <a:gd name="adj" fmla="val 487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015904" y="2242170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3936" y="2330276"/>
            <a:ext cx="176064" cy="176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65290" y="2260476"/>
            <a:ext cx="291755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Quantum-Inspired Identity Modeling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465290" y="2502173"/>
            <a:ext cx="426787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Represent user behavior as probabilistic state vectors inspired by quantum superposition concepts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309467" y="3236119"/>
            <a:ext cx="117351" cy="643607"/>
          </a:xfrm>
          <a:prstGeom prst="roundRect">
            <a:avLst>
              <a:gd name="adj" fmla="val 487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192042" y="3159100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0074" y="3247206"/>
            <a:ext cx="176064" cy="176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41428" y="3177406"/>
            <a:ext cx="282840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Post-Quantum Cryptographic Layer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641428" y="3419103"/>
            <a:ext cx="409173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Lattice-based cryptography and hash-based signatures secure identity vectors against quantum attacks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485531" y="4153049"/>
            <a:ext cx="117351" cy="643607"/>
          </a:xfrm>
          <a:prstGeom prst="roundRect">
            <a:avLst>
              <a:gd name="adj" fmla="val 4870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68105" y="4076030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6137" y="4164137"/>
            <a:ext cx="176064" cy="176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17492" y="4094336"/>
            <a:ext cx="27637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Continuous Authentication Engine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817492" y="4336033"/>
            <a:ext cx="391566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monitoring with ML-based anomaly detection triggering alerts or re-authentication on deviation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010A0DE-F19E-665C-DB40-884E191FD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326" y="4815065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19162"/>
            <a:ext cx="2599655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770111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362298" y="918642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1362298" y="984200"/>
            <a:ext cx="147146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Collection Module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62298" y="1190551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 behavioral data capture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62298" y="1444526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62298" y="1593056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1362298" y="165861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Extractor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62298" y="1864965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Behavioral pattern analysis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62298" y="2118940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62298" y="2267471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1362298" y="2333030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Identity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62298" y="2539380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Quantum-inspired modeling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362298" y="2793355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362298" y="2941886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1362298" y="300744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62298" y="3213795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Post-quantum encryption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62298" y="3467770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62298" y="3616300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1362298" y="3681859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62298" y="3888209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ML-based authentication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362298" y="4142184"/>
            <a:ext cx="18603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362298" y="4290715"/>
            <a:ext cx="2099221" cy="9525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5" name="Text 23"/>
          <p:cNvSpPr/>
          <p:nvPr/>
        </p:nvSpPr>
        <p:spPr>
          <a:xfrm>
            <a:off x="1362298" y="435627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Secure Storage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62298" y="4562624"/>
            <a:ext cx="209922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Encrypted database</a:t>
            </a:r>
            <a:endParaRPr lang="en-US" sz="7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730" y="224075"/>
            <a:ext cx="4726270" cy="487707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93244" y="4494461"/>
            <a:ext cx="409314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820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74713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1820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Programming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and JavaScript for backend logic, algorithm implementation, and frontend interaction handling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274713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112764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TensorFlow and Scikit-learn for behavioral pattern recognition, anomaly detection, and classification models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Cryptography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Post-quantum libraries implementing lattice-based schemes, hash-based signatures, and quantum-resistant primitives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 Framework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React frontend with Flask/FastAPI backend for responsive interface and RESTful API endpoints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B02BC3-3F54-82D3-F010-39A2CE768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9696" y="4595217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85465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Evaluation Framework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09640" y="1511871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99.2%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3909640" y="2133377"/>
            <a:ext cx="2293739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 Accuracy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09640" y="2642220"/>
            <a:ext cx="22937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Correct identification rate on test dataset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69621" y="1511871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&lt;0.5%</a:t>
            </a:r>
            <a:endParaRPr lang="en-US" sz="3550" dirty="0"/>
          </a:p>
        </p:txBody>
      </p:sp>
      <p:sp>
        <p:nvSpPr>
          <p:cNvPr id="8" name="Text 5"/>
          <p:cNvSpPr/>
          <p:nvPr/>
        </p:nvSpPr>
        <p:spPr>
          <a:xfrm>
            <a:off x="6458769" y="2133377"/>
            <a:ext cx="211536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False Acceptance Rate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69621" y="2427684"/>
            <a:ext cx="22937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Unauthorized access attempts incorrectly approved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39630" y="3409504"/>
            <a:ext cx="22937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&lt;2%</a:t>
            </a:r>
            <a:endParaRPr lang="en-US" sz="3550" dirty="0"/>
          </a:p>
        </p:txBody>
      </p:sp>
      <p:sp>
        <p:nvSpPr>
          <p:cNvPr id="11" name="Text 8"/>
          <p:cNvSpPr/>
          <p:nvPr/>
        </p:nvSpPr>
        <p:spPr>
          <a:xfrm>
            <a:off x="5337497" y="4031010"/>
            <a:ext cx="189793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False Rejection Rate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139630" y="4325317"/>
            <a:ext cx="229373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Legitimate users incorrectly denied access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AB56A7-0C4E-CC7E-6582-474817F9B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019" y="4668836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01910"/>
            <a:ext cx="452884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High-Security Use Cases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097087"/>
            <a:ext cx="1920999" cy="19209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3151063"/>
            <a:ext cx="1920999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Defense &amp; Intelligence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0640" y="3659907"/>
            <a:ext cx="1920999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Secure access to classified systems and command-and-control infrastructure requiring continuous authentication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880" y="1097087"/>
            <a:ext cx="1920999" cy="19209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7880" y="3151063"/>
            <a:ext cx="1920999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Infrastructure Control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67880" y="3659907"/>
            <a:ext cx="1920999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Protection of power grids, water systems, and transportation networks from unauthorized manipulation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121" y="1097087"/>
            <a:ext cx="1920999" cy="19209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5121" y="3151063"/>
            <a:ext cx="185261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Healthcare Systems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55121" y="3445371"/>
            <a:ext cx="1920999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Secure patient data access with continuous monitoring preventing session hijacking in medical environments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361" y="1097087"/>
            <a:ext cx="1920999" cy="19209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361" y="315106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Financial Services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361" y="3445371"/>
            <a:ext cx="1920999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High-frequency trading platforms and banking systems requiring quantum-resistant transaction authentication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404DBC-DCF9-5906-89A7-9441550939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7068" y="4741515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3744"/>
            <a:ext cx="58845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Research Innovation Roadmap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824237"/>
            <a:ext cx="8151763" cy="19050"/>
          </a:xfrm>
          <a:prstGeom prst="roundRect">
            <a:avLst>
              <a:gd name="adj" fmla="val 3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063725" y="2398961"/>
            <a:ext cx="19050" cy="425276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5" name="Shape 3"/>
          <p:cNvSpPr/>
          <p:nvPr/>
        </p:nvSpPr>
        <p:spPr>
          <a:xfrm>
            <a:off x="1913781" y="266476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66950" y="2691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6139" y="1270248"/>
            <a:ext cx="25942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 1: Research &amp; Design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576760"/>
            <a:ext cx="287082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Literature review, system architecture design, dataset collection framework establishment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29558" y="2824237"/>
            <a:ext cx="19050" cy="425276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0" name="Shape 8"/>
          <p:cNvSpPr/>
          <p:nvPr/>
        </p:nvSpPr>
        <p:spPr>
          <a:xfrm>
            <a:off x="3579614" y="266476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2783" y="2691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429024" y="3391272"/>
            <a:ext cx="2620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 2: Core Development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3636" y="3697784"/>
            <a:ext cx="28708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Behavioral data capture module, ML model training, basic authentication pipeline implementation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5317" y="2398961"/>
            <a:ext cx="19050" cy="425276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373" y="266476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98542" y="2691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74381" y="1270248"/>
            <a:ext cx="28608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 3: Quantum Integration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69395" y="1576760"/>
            <a:ext cx="28708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Quantum-inspired modeling layer, post-quantum encryption integration, security hardening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61150" y="2824237"/>
            <a:ext cx="19050" cy="425276"/>
          </a:xfrm>
          <a:prstGeom prst="roundRect">
            <a:avLst>
              <a:gd name="adj" fmla="val 30000"/>
            </a:avLst>
          </a:prstGeom>
          <a:solidFill>
            <a:srgbClr val="15161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1206" y="2664768"/>
            <a:ext cx="318939" cy="318939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64375" y="269133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35228" y="3391272"/>
            <a:ext cx="28708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Week 4: Testing &amp; Documentation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35228" y="3919240"/>
            <a:ext cx="28708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integration, security testing, IEEE-format research paper preparation, MVP demonstration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8032733-42D4-8AB6-EE7D-4B25A7F3A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458" y="4714903"/>
            <a:ext cx="3562847" cy="714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548</Words>
  <Application>Microsoft Office PowerPoint</Application>
  <PresentationFormat>On-screen Show (16:9)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Inconsolata</vt:lpstr>
      <vt:lpstr>Montserrat Black</vt:lpstr>
      <vt:lpstr>Montserrat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Yasmin Sekh</cp:lastModifiedBy>
  <cp:revision>2</cp:revision>
  <dcterms:created xsi:type="dcterms:W3CDTF">2026-05-05T08:47:36Z</dcterms:created>
  <dcterms:modified xsi:type="dcterms:W3CDTF">2026-06-03T15:12:39Z</dcterms:modified>
</cp:coreProperties>
</file>